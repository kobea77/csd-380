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5F2A98-68D5-40C9-86F1-CAFD6C0E6903}" v="2" dt="2026-10-26T03:27:26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2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be Alexander" userId="0f1f438e6d9de0c6" providerId="LiveId" clId="{86F868D0-B564-43AF-B5F1-68DF6334CA1B}"/>
    <pc:docChg chg="custSel modSld">
      <pc:chgData name="Kobe Alexander" userId="0f1f438e6d9de0c6" providerId="LiveId" clId="{86F868D0-B564-43AF-B5F1-68DF6334CA1B}" dt="2026-10-26T03:28:16.901" v="41" actId="1076"/>
      <pc:docMkLst>
        <pc:docMk/>
      </pc:docMkLst>
      <pc:sldChg chg="addSp delSp modSp mod">
        <pc:chgData name="Kobe Alexander" userId="0f1f438e6d9de0c6" providerId="LiveId" clId="{86F868D0-B564-43AF-B5F1-68DF6334CA1B}" dt="2026-10-26T03:28:16.901" v="41" actId="1076"/>
        <pc:sldMkLst>
          <pc:docMk/>
          <pc:sldMk cId="0" sldId="256"/>
        </pc:sldMkLst>
        <pc:spChg chg="del">
          <ac:chgData name="Kobe Alexander" userId="0f1f438e6d9de0c6" providerId="LiveId" clId="{86F868D0-B564-43AF-B5F1-68DF6334CA1B}" dt="2026-10-26T03:28:05.750" v="39" actId="478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Kobe Alexander" userId="0f1f438e6d9de0c6" providerId="LiveId" clId="{86F868D0-B564-43AF-B5F1-68DF6334CA1B}" dt="2026-10-26T03:28:16.901" v="41" actId="1076"/>
          <ac:spMkLst>
            <pc:docMk/>
            <pc:sldMk cId="0" sldId="256"/>
            <ac:spMk id="9" creationId="{011A5114-71E7-0864-479F-D8D07F1E4E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48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83333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63840" y="-822960"/>
            <a:ext cx="5120640" cy="8046720"/>
          </a:xfrm>
          <a:prstGeom prst="roundRect">
            <a:avLst>
              <a:gd name="adj" fmla="val 2679"/>
            </a:avLst>
          </a:prstGeom>
          <a:solidFill>
            <a:srgbClr val="1C3650"/>
          </a:solidFill>
          <a:ln w="6350">
            <a:solidFill>
              <a:srgbClr val="1C36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58200" y="228600"/>
            <a:ext cx="128016" cy="6217920"/>
          </a:xfrm>
          <a:prstGeom prst="roundRect">
            <a:avLst>
              <a:gd name="adj" fmla="val 107143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" y="1481328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TECHNOLOGY</a:t>
            </a:r>
            <a:endParaRPr lang="en-US" sz="4500" dirty="0"/>
          </a:p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STREAM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841248" y="34107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7D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deployment lead times of months to minutes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32104" y="4087368"/>
            <a:ext cx="2743200" cy="50292"/>
          </a:xfrm>
          <a:prstGeom prst="roundRect">
            <a:avLst>
              <a:gd name="adj" fmla="val 272727"/>
            </a:avLst>
          </a:prstGeom>
          <a:solidFill>
            <a:srgbClr val="E4A34D"/>
          </a:solidFill>
          <a:ln w="6350">
            <a:solidFill>
              <a:srgbClr val="E4A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A5114-71E7-0864-479F-D8D07F1E4E7B}"/>
              </a:ext>
            </a:extLst>
          </p:cNvPr>
          <p:cNvSpPr txBox="1"/>
          <p:nvPr/>
        </p:nvSpPr>
        <p:spPr>
          <a:xfrm>
            <a:off x="758952" y="4292277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7D5D1"/>
                </a:solidFill>
                <a:latin typeface="Aptos" pitchFamily="34" charset="0"/>
              </a:rPr>
              <a:t>Kobe Alexander</a:t>
            </a:r>
            <a:br>
              <a:rPr lang="en-US" dirty="0">
                <a:solidFill>
                  <a:srgbClr val="57D5D1"/>
                </a:solidFill>
                <a:latin typeface="Aptos" pitchFamily="34" charset="0"/>
              </a:rPr>
            </a:br>
            <a:r>
              <a:rPr lang="en-US" dirty="0">
                <a:solidFill>
                  <a:srgbClr val="57D5D1"/>
                </a:solidFill>
                <a:latin typeface="Aptos" pitchFamily="34" charset="0"/>
              </a:rPr>
              <a:t>CSD 380</a:t>
            </a:r>
            <a:br>
              <a:rPr lang="en-US" dirty="0">
                <a:solidFill>
                  <a:srgbClr val="57D5D1"/>
                </a:solidFill>
                <a:latin typeface="Aptos" pitchFamily="34" charset="0"/>
              </a:rPr>
            </a:br>
            <a:r>
              <a:rPr lang="en-US" dirty="0">
                <a:solidFill>
                  <a:srgbClr val="57D5D1"/>
                </a:solidFill>
                <a:latin typeface="Aptos" pitchFamily="34" charset="0"/>
              </a:rPr>
              <a:t>10/25/2026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107143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technology value stream?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235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software change becomes valuable when it reaches the user.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6483096"/>
            <a:ext cx="10954512" cy="13716"/>
          </a:xfrm>
          <a:prstGeom prst="roundRect">
            <a:avLst>
              <a:gd name="adj" fmla="val 1000000"/>
            </a:avLst>
          </a:prstGeom>
          <a:solidFill>
            <a:srgbClr val="DEE7EC"/>
          </a:solidFill>
          <a:ln w="6350">
            <a:solidFill>
              <a:srgbClr val="DE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TECHNOLOGY VALUE STREAM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993392" cy="1362456"/>
          </a:xfrm>
          <a:prstGeom prst="roundRect">
            <a:avLst>
              <a:gd name="adj" fmla="val 12081"/>
            </a:avLst>
          </a:prstGeom>
          <a:solidFill>
            <a:srgbClr val="EFF7F8"/>
          </a:solidFill>
          <a:ln w="6350">
            <a:solidFill>
              <a:srgbClr val="EF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088" y="216712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261518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identified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96896" y="224028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2935224" y="1920240"/>
            <a:ext cx="1993392" cy="1362456"/>
          </a:xfrm>
          <a:prstGeom prst="roundRect">
            <a:avLst>
              <a:gd name="adj" fmla="val 12081"/>
            </a:avLst>
          </a:prstGeom>
          <a:solidFill>
            <a:srgbClr val="F4F7FB"/>
          </a:solidFill>
          <a:ln w="635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44952" y="216712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054096" y="261518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created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5276088" y="1920240"/>
            <a:ext cx="1993392" cy="1362456"/>
          </a:xfrm>
          <a:prstGeom prst="roundRect">
            <a:avLst>
              <a:gd name="adj" fmla="val 12081"/>
            </a:avLst>
          </a:prstGeom>
          <a:solidFill>
            <a:srgbClr val="EFF7F8"/>
          </a:solidFill>
          <a:ln w="6350">
            <a:solidFill>
              <a:srgbClr val="EF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85816" y="216712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394960" y="261518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combined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78624" y="224028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900" dirty="0"/>
          </a:p>
        </p:txBody>
      </p:sp>
      <p:sp>
        <p:nvSpPr>
          <p:cNvPr id="20" name="Shape 18"/>
          <p:cNvSpPr/>
          <p:nvPr/>
        </p:nvSpPr>
        <p:spPr>
          <a:xfrm>
            <a:off x="7616952" y="1920240"/>
            <a:ext cx="1993392" cy="1362456"/>
          </a:xfrm>
          <a:prstGeom prst="roundRect">
            <a:avLst>
              <a:gd name="adj" fmla="val 12081"/>
            </a:avLst>
          </a:prstGeom>
          <a:solidFill>
            <a:srgbClr val="F4F7FB"/>
          </a:solidFill>
          <a:ln w="635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26680" y="216712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735824" y="261518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verified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19488" y="2240280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900" dirty="0"/>
          </a:p>
        </p:txBody>
      </p:sp>
      <p:sp>
        <p:nvSpPr>
          <p:cNvPr id="24" name="Shape 22"/>
          <p:cNvSpPr/>
          <p:nvPr/>
        </p:nvSpPr>
        <p:spPr>
          <a:xfrm>
            <a:off x="9957816" y="1920240"/>
            <a:ext cx="1993392" cy="1362456"/>
          </a:xfrm>
          <a:prstGeom prst="roundRect">
            <a:avLst>
              <a:gd name="adj" fmla="val 12081"/>
            </a:avLst>
          </a:prstGeom>
          <a:solidFill>
            <a:srgbClr val="EFF7F8"/>
          </a:solidFill>
          <a:ln w="6350">
            <a:solidFill>
              <a:srgbClr val="EF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67544" y="216712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076688" y="261518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to users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0976" y="4096512"/>
            <a:ext cx="10314432" cy="950976"/>
          </a:xfrm>
          <a:prstGeom prst="roundRect">
            <a:avLst>
              <a:gd name="adj" fmla="val 14423"/>
            </a:avLst>
          </a:prstGeom>
          <a:solidFill>
            <a:srgbClr val="13243B"/>
          </a:solidFill>
          <a:ln w="6350">
            <a:solidFill>
              <a:srgbClr val="132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34440" y="4279392"/>
            <a:ext cx="9765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faster, dependable flow across the entire system—not merely faster coding.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58368" y="620877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Kim et al. (2016, pp. 8–11); DORA (n.d.).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107143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time vs. processing time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235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time includes both the work itself and the time spent waiting.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6483096"/>
            <a:ext cx="10954512" cy="13716"/>
          </a:xfrm>
          <a:prstGeom prst="roundRect">
            <a:avLst>
              <a:gd name="adj" fmla="val 1000000"/>
            </a:avLst>
          </a:prstGeom>
          <a:solidFill>
            <a:srgbClr val="DEE7EC"/>
          </a:solidFill>
          <a:ln w="6350">
            <a:solidFill>
              <a:srgbClr val="DE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TECHNOLOGY VALUE STREAM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834640"/>
            <a:ext cx="9966960" cy="173736"/>
          </a:xfrm>
          <a:prstGeom prst="roundRect">
            <a:avLst>
              <a:gd name="adj" fmla="val 78947"/>
            </a:avLst>
          </a:prstGeom>
          <a:solidFill>
            <a:srgbClr val="DAE3EC"/>
          </a:solidFill>
          <a:ln w="6350">
            <a:solidFill>
              <a:srgbClr val="DA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2834640"/>
            <a:ext cx="3794760" cy="173736"/>
          </a:xfrm>
          <a:prstGeom prst="roundRect">
            <a:avLst>
              <a:gd name="adj" fmla="val 78947"/>
            </a:avLst>
          </a:prstGeom>
          <a:solidFill>
            <a:srgbClr val="E4A34D"/>
          </a:solidFill>
          <a:ln w="6350">
            <a:solidFill>
              <a:srgbClr val="E4A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2834640"/>
            <a:ext cx="6172200" cy="173736"/>
          </a:xfrm>
          <a:prstGeom prst="roundRect">
            <a:avLst>
              <a:gd name="adj" fmla="val 78947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7260" y="2734056"/>
            <a:ext cx="137160" cy="384048"/>
          </a:xfrm>
          <a:prstGeom prst="roundRect">
            <a:avLst>
              <a:gd name="adj" fmla="val 20000"/>
            </a:avLst>
          </a:prstGeom>
          <a:solidFill>
            <a:srgbClr val="13243B"/>
          </a:solidFill>
          <a:ln w="6350">
            <a:solidFill>
              <a:srgbClr val="132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" y="3218688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32020" y="2734056"/>
            <a:ext cx="137160" cy="384048"/>
          </a:xfrm>
          <a:prstGeom prst="roundRect">
            <a:avLst>
              <a:gd name="adj" fmla="val 20000"/>
            </a:avLst>
          </a:prstGeom>
          <a:solidFill>
            <a:srgbClr val="13243B"/>
          </a:solidFill>
          <a:ln w="6350">
            <a:solidFill>
              <a:srgbClr val="132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67912" y="3218688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04220" y="2734056"/>
            <a:ext cx="137160" cy="384048"/>
          </a:xfrm>
          <a:prstGeom prst="roundRect">
            <a:avLst>
              <a:gd name="adj" fmla="val 20000"/>
            </a:avLst>
          </a:prstGeom>
          <a:solidFill>
            <a:srgbClr val="13243B"/>
          </a:solidFill>
          <a:ln w="6350">
            <a:solidFill>
              <a:srgbClr val="132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40112" y="3218688"/>
            <a:ext cx="1920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340864"/>
            <a:ext cx="2907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D74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/ QUEUE 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340864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TIME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7552" y="1645920"/>
            <a:ext cx="10012680" cy="68580"/>
          </a:xfrm>
          <a:prstGeom prst="roundRect">
            <a:avLst>
              <a:gd name="adj" fmla="val 200000"/>
            </a:avLst>
          </a:prstGeom>
          <a:solidFill>
            <a:srgbClr val="13243B"/>
          </a:solidFill>
          <a:ln w="6350">
            <a:solidFill>
              <a:srgbClr val="132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99432" y="12252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LEAD TIME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115568" y="4434840"/>
            <a:ext cx="9875520" cy="877824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635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44752" y="4681728"/>
            <a:ext cx="9180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8 days waiting + 2 days working = 10 days lead time (20% active processing).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58368" y="620877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Timing figures are illustrative. Source: Kim et al. (2016, p. 9); DORA (n.d.).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107143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scenario: lead times measured in months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235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organizations often accumulate delays between work stages.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6483096"/>
            <a:ext cx="10954512" cy="13716"/>
          </a:xfrm>
          <a:prstGeom prst="roundRect">
            <a:avLst>
              <a:gd name="adj" fmla="val 1000000"/>
            </a:avLst>
          </a:prstGeom>
          <a:solidFill>
            <a:srgbClr val="DEE7EC"/>
          </a:solidFill>
          <a:ln w="6350">
            <a:solidFill>
              <a:srgbClr val="DE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TECHNOLOGY VALUE STREAM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41248" y="1755648"/>
            <a:ext cx="96012" cy="96012"/>
          </a:xfrm>
          <a:prstGeom prst="roundRect">
            <a:avLst>
              <a:gd name="adj" fmla="val 47619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636776"/>
            <a:ext cx="10131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Large, tightly coupled applications make changes harder to isolate.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41248" y="2606040"/>
            <a:ext cx="96012" cy="96012"/>
          </a:xfrm>
          <a:prstGeom prst="roundRect">
            <a:avLst>
              <a:gd name="adj" fmla="val 47619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487168"/>
            <a:ext cx="10131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test environments and manual testing create queues.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3456432"/>
            <a:ext cx="96012" cy="96012"/>
          </a:xfrm>
          <a:prstGeom prst="roundRect">
            <a:avLst>
              <a:gd name="adj" fmla="val 47619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337560"/>
            <a:ext cx="10131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handoffs and approvals delay release readiness.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41248" y="4306824"/>
            <a:ext cx="96012" cy="96012"/>
          </a:xfrm>
          <a:prstGeom prst="roundRect">
            <a:avLst>
              <a:gd name="adj" fmla="val 47619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4187952"/>
            <a:ext cx="10131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integration exposes defects when they are expensive to diagnose.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32688" y="5257800"/>
            <a:ext cx="10241280" cy="658368"/>
          </a:xfrm>
          <a:prstGeom prst="roundRect">
            <a:avLst>
              <a:gd name="adj" fmla="val 16667"/>
            </a:avLst>
          </a:prstGeom>
          <a:solidFill>
            <a:srgbClr val="EFF7F8"/>
          </a:solidFill>
          <a:ln w="6350">
            <a:solidFill>
              <a:srgbClr val="EF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3000" y="5413248"/>
            <a:ext cx="9857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three-month deployment timeline is an example from the textbook—not a universal average.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" y="620877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Kim et al. (2016, p. 10).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107143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long deployment timelines are risky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235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time in a queue means slower learning and higher coordination cost.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6483096"/>
            <a:ext cx="10954512" cy="13716"/>
          </a:xfrm>
          <a:prstGeom prst="roundRect">
            <a:avLst>
              <a:gd name="adj" fmla="val 1000000"/>
            </a:avLst>
          </a:prstGeom>
          <a:solidFill>
            <a:srgbClr val="DEE7EC"/>
          </a:solidFill>
          <a:ln w="6350">
            <a:solidFill>
              <a:srgbClr val="DE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TECHNOLOGY VALUE STREAM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581912"/>
            <a:ext cx="5276088" cy="1517904"/>
          </a:xfrm>
          <a:prstGeom prst="roundRect">
            <a:avLst>
              <a:gd name="adj" fmla="val 9639"/>
            </a:avLst>
          </a:prstGeom>
          <a:solidFill>
            <a:srgbClr val="F4F7FB"/>
          </a:solidFill>
          <a:ln w="635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" y="1581912"/>
            <a:ext cx="91440" cy="1517904"/>
          </a:xfrm>
          <a:prstGeom prst="roundRect">
            <a:avLst>
              <a:gd name="adj" fmla="val 150000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4984" y="18105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Delayed customer value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14984" y="2322576"/>
            <a:ext cx="4663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and fixes reach users later.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28232" y="1581912"/>
            <a:ext cx="5276088" cy="1517904"/>
          </a:xfrm>
          <a:prstGeom prst="roundRect">
            <a:avLst>
              <a:gd name="adj" fmla="val 9639"/>
            </a:avLst>
          </a:prstGeom>
          <a:solidFill>
            <a:srgbClr val="F4F7FB"/>
          </a:solidFill>
          <a:ln w="635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28232" y="1581912"/>
            <a:ext cx="91440" cy="1517904"/>
          </a:xfrm>
          <a:prstGeom prst="roundRect">
            <a:avLst>
              <a:gd name="adj" fmla="val 150000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84264" y="18105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change batches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84264" y="2322576"/>
            <a:ext cx="4663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Defects are harder to trace to a single change.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58952" y="3456432"/>
            <a:ext cx="5276088" cy="1517904"/>
          </a:xfrm>
          <a:prstGeom prst="roundRect">
            <a:avLst>
              <a:gd name="adj" fmla="val 9639"/>
            </a:avLst>
          </a:prstGeom>
          <a:solidFill>
            <a:srgbClr val="F4F7FB"/>
          </a:solidFill>
          <a:ln w="635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8952" y="3456432"/>
            <a:ext cx="91440" cy="1517904"/>
          </a:xfrm>
          <a:prstGeom prst="roundRect">
            <a:avLst>
              <a:gd name="adj" fmla="val 150000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14984" y="3685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feedback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14984" y="4197096"/>
            <a:ext cx="4663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failures surface near release time.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28232" y="3456432"/>
            <a:ext cx="5276088" cy="1517904"/>
          </a:xfrm>
          <a:prstGeom prst="roundRect">
            <a:avLst>
              <a:gd name="adj" fmla="val 9639"/>
            </a:avLst>
          </a:prstGeom>
          <a:solidFill>
            <a:srgbClr val="F4F7FB"/>
          </a:solidFill>
          <a:ln w="635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28232" y="3456432"/>
            <a:ext cx="91440" cy="1517904"/>
          </a:xfrm>
          <a:prstGeom prst="roundRect">
            <a:avLst>
              <a:gd name="adj" fmla="val 150000"/>
            </a:avLst>
          </a:prstGeom>
          <a:solidFill>
            <a:srgbClr val="E4A34D"/>
          </a:solidFill>
          <a:ln w="6350">
            <a:solidFill>
              <a:srgbClr val="E4A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84264" y="3685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pressure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684264" y="4197096"/>
            <a:ext cx="4663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depend on urgent fixes and manual heroics.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620877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Kim et al. (2016, p. 10).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107143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DevOps ideal: deployment in minutes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235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integration and delivery make small changes safer to release.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6483096"/>
            <a:ext cx="10954512" cy="13716"/>
          </a:xfrm>
          <a:prstGeom prst="roundRect">
            <a:avLst>
              <a:gd name="adj" fmla="val 1000000"/>
            </a:avLst>
          </a:prstGeom>
          <a:solidFill>
            <a:srgbClr val="DEE7EC"/>
          </a:solidFill>
          <a:ln w="6350">
            <a:solidFill>
              <a:srgbClr val="DE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TECHNOLOGY VALUE STREAM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975104"/>
            <a:ext cx="2633472" cy="1444752"/>
          </a:xfrm>
          <a:prstGeom prst="roundRect">
            <a:avLst>
              <a:gd name="adj" fmla="val 11392"/>
            </a:avLst>
          </a:prstGeom>
          <a:solidFill>
            <a:srgbClr val="EFF7F8"/>
          </a:solidFill>
          <a:ln w="6350">
            <a:solidFill>
              <a:srgbClr val="EF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" y="2221992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commit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04672" y="277977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9272" y="238658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3584448" y="1975104"/>
            <a:ext cx="2633472" cy="1444752"/>
          </a:xfrm>
          <a:prstGeom prst="roundRect">
            <a:avLst>
              <a:gd name="adj" fmla="val 11392"/>
            </a:avLst>
          </a:prstGeom>
          <a:solidFill>
            <a:srgbClr val="EFF7F8"/>
          </a:solidFill>
          <a:ln w="6350">
            <a:solidFill>
              <a:srgbClr val="EF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21608" y="2221992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tests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30752" y="277977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validation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5352" y="238658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6510528" y="1975104"/>
            <a:ext cx="2633472" cy="1444752"/>
          </a:xfrm>
          <a:prstGeom prst="roundRect">
            <a:avLst>
              <a:gd name="adj" fmla="val 11392"/>
            </a:avLst>
          </a:prstGeom>
          <a:solidFill>
            <a:srgbClr val="EFF7F8"/>
          </a:solidFill>
          <a:ln w="6350">
            <a:solidFill>
              <a:srgbClr val="EF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47688" y="2221992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test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56832" y="277977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71432" y="238658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9436608" y="1975104"/>
            <a:ext cx="2633472" cy="1444752"/>
          </a:xfrm>
          <a:prstGeom prst="roundRect">
            <a:avLst>
              <a:gd name="adj" fmla="val 11392"/>
            </a:avLst>
          </a:prstGeom>
          <a:solidFill>
            <a:srgbClr val="13243B"/>
          </a:solidFill>
          <a:ln w="6350">
            <a:solidFill>
              <a:srgbClr val="132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73768" y="2221992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deploy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582912" y="277977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A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release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67128" y="4005072"/>
            <a:ext cx="7863840" cy="1097280"/>
          </a:xfrm>
          <a:prstGeom prst="roundRect">
            <a:avLst>
              <a:gd name="adj" fmla="val 14167"/>
            </a:avLst>
          </a:prstGeom>
          <a:solidFill>
            <a:srgbClr val="F4F7FB"/>
          </a:solidFill>
          <a:ln w="635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32304" y="4251960"/>
            <a:ext cx="7333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batches  +  automation  +  rapid feedback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5623560"/>
            <a:ext cx="10360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textbook illustrates a 25-minute value stream; real results depend on system and controls.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" y="620877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Kim et al. (2016, pp. 10–11).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107143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comparison: months vs. minutes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235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value stream maps—not a measurement of a specific organization.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6483096"/>
            <a:ext cx="10954512" cy="13716"/>
          </a:xfrm>
          <a:prstGeom prst="roundRect">
            <a:avLst>
              <a:gd name="adj" fmla="val 1000000"/>
            </a:avLst>
          </a:prstGeom>
          <a:solidFill>
            <a:srgbClr val="DEE7EC"/>
          </a:solidFill>
          <a:ln w="6350">
            <a:solidFill>
              <a:srgbClr val="DE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TECHNOLOGY VALUE STREAM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444752"/>
            <a:ext cx="10689336" cy="1874520"/>
          </a:xfrm>
          <a:prstGeom prst="roundRect">
            <a:avLst>
              <a:gd name="adj" fmla="val 7317"/>
            </a:avLst>
          </a:prstGeom>
          <a:solidFill>
            <a:srgbClr val="F9F2ED"/>
          </a:solidFill>
          <a:ln w="6350">
            <a:solidFill>
              <a:srgbClr val="F9F2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673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57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DELIVERY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33272" y="2231136"/>
            <a:ext cx="142646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23591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79192" y="2231136"/>
            <a:ext cx="1426464" cy="548640"/>
          </a:xfrm>
          <a:prstGeom prst="roundRect">
            <a:avLst>
              <a:gd name="adj" fmla="val 15000"/>
            </a:avLst>
          </a:prstGeom>
          <a:solidFill>
            <a:srgbClr val="F1D6B0"/>
          </a:solidFill>
          <a:ln w="6350">
            <a:solidFill>
              <a:srgbClr val="F1D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15768" y="23591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25112" y="2231136"/>
            <a:ext cx="142646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61688" y="23591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test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71032" y="2231136"/>
            <a:ext cx="1426464" cy="548640"/>
          </a:xfrm>
          <a:prstGeom prst="roundRect">
            <a:avLst>
              <a:gd name="adj" fmla="val 15000"/>
            </a:avLst>
          </a:prstGeom>
          <a:solidFill>
            <a:srgbClr val="F1D6B0"/>
          </a:solidFill>
          <a:ln w="6350">
            <a:solidFill>
              <a:srgbClr val="F1D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07608" y="23591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16952" y="2231136"/>
            <a:ext cx="142646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53528" y="23591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62872" y="2231136"/>
            <a:ext cx="142646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99448" y="23591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9848" y="294436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57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time: ~3 months in the textbook example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8952" y="3584448"/>
            <a:ext cx="10689336" cy="1920240"/>
          </a:xfrm>
          <a:prstGeom prst="roundRect">
            <a:avLst>
              <a:gd name="adj" fmla="val 7143"/>
            </a:avLst>
          </a:prstGeom>
          <a:solidFill>
            <a:srgbClr val="EFF7F8"/>
          </a:solidFill>
          <a:ln w="6350">
            <a:solidFill>
              <a:srgbClr val="EF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38130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DEVOPS DELIVERY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51560" y="4379976"/>
            <a:ext cx="21945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88136" y="4535424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73552" y="4498848"/>
            <a:ext cx="28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575304" y="4379976"/>
            <a:ext cx="21945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880" y="4535424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tests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797296" y="4498848"/>
            <a:ext cx="28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099048" y="4379976"/>
            <a:ext cx="21945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35624" y="4535424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4498848"/>
            <a:ext cx="28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622792" y="4379976"/>
            <a:ext cx="2194560" cy="566928"/>
          </a:xfrm>
          <a:prstGeom prst="roundRect">
            <a:avLst>
              <a:gd name="adj" fmla="val 14516"/>
            </a:avLst>
          </a:prstGeom>
          <a:solidFill>
            <a:srgbClr val="13243B"/>
          </a:solidFill>
          <a:ln w="6350">
            <a:solidFill>
              <a:srgbClr val="132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59368" y="4535424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78992" y="5175504"/>
            <a:ext cx="9966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9A6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time: 25 minutes in the textbook example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58368" y="620877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Adapted conceptually from Kim et al. (2016, pp. 10–11); not drawn to a common time scale.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107143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teams improve the value stream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235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visible, reduce queues, and measure the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6483096"/>
            <a:ext cx="10954512" cy="13716"/>
          </a:xfrm>
          <a:prstGeom prst="roundRect">
            <a:avLst>
              <a:gd name="adj" fmla="val 1000000"/>
            </a:avLst>
          </a:prstGeom>
          <a:solidFill>
            <a:srgbClr val="DEE7EC"/>
          </a:solidFill>
          <a:ln w="6350">
            <a:solidFill>
              <a:srgbClr val="DE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TECHNOLOGY VALUE STREAM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691640"/>
            <a:ext cx="96012" cy="96012"/>
          </a:xfrm>
          <a:prstGeom prst="roundRect">
            <a:avLst>
              <a:gd name="adj" fmla="val 47619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1572768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every step and record both processing and waiting time.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2587752"/>
            <a:ext cx="96012" cy="96012"/>
          </a:xfrm>
          <a:prstGeom prst="roundRect">
            <a:avLst>
              <a:gd name="adj" fmla="val 47619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4712" y="2468880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work in progress and reduce the size of each change.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3483864"/>
            <a:ext cx="96012" cy="96012"/>
          </a:xfrm>
          <a:prstGeom prst="roundRect">
            <a:avLst>
              <a:gd name="adj" fmla="val 47619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24712" y="336499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repeatable builds, tests, and deployments.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4379976"/>
            <a:ext cx="96012" cy="96012"/>
          </a:xfrm>
          <a:prstGeom prst="roundRect">
            <a:avLst>
              <a:gd name="adj" fmla="val 47619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4712" y="4261104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600"/>
              <a:t>Use reusable, modular components to make changes easier to isolate.</a:t>
            </a:r>
          </a:p>
        </p:txBody>
      </p:sp>
      <p:sp>
        <p:nvSpPr>
          <p:cNvPr id="16" name="Shape 14"/>
          <p:cNvSpPr/>
          <p:nvPr/>
        </p:nvSpPr>
        <p:spPr>
          <a:xfrm>
            <a:off x="1005840" y="5349240"/>
            <a:ext cx="10058400" cy="594360"/>
          </a:xfrm>
          <a:prstGeom prst="roundRect">
            <a:avLst>
              <a:gd name="adj" fmla="val 23077"/>
            </a:avLst>
          </a:prstGeom>
          <a:solidFill>
            <a:srgbClr val="13243B"/>
          </a:solidFill>
          <a:ln w="6350">
            <a:solidFill>
              <a:srgbClr val="132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8720" y="549554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takeaway: optimize the complete journey from request to production.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8368" y="6208776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/>
              <a:t>Sources: Kim et al. (2016); DORA (n.d.); Frost (2016).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107143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92354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APA-style source list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6483096"/>
            <a:ext cx="10954512" cy="13716"/>
          </a:xfrm>
          <a:prstGeom prst="roundRect">
            <a:avLst>
              <a:gd name="adj" fmla="val 1000000"/>
            </a:avLst>
          </a:prstGeom>
          <a:solidFill>
            <a:srgbClr val="DEE7EC"/>
          </a:solidFill>
          <a:ln w="6350">
            <a:solidFill>
              <a:srgbClr val="DE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6556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TECHNOLOGY VALUE STREAM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58952" y="1399032"/>
            <a:ext cx="82296" cy="1024128"/>
          </a:xfrm>
          <a:prstGeom prst="roundRect">
            <a:avLst>
              <a:gd name="adj" fmla="val 166667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1417320"/>
            <a:ext cx="9948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Atlassian. (n.d.). Value stream mapping. https://www.atlassian.com/continuous-delivery/principles/value-stream-mapping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8952" y="2724912"/>
            <a:ext cx="82296" cy="1024128"/>
          </a:xfrm>
          <a:prstGeom prst="roundRect">
            <a:avLst>
              <a:gd name="adj" fmla="val 166667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2743200"/>
            <a:ext cx="9948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DORA. (n.d.). Visibility of work in the value stream. https://dora.dev/capabilities/work-visibility-in-value-stream/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8952" y="4050792"/>
            <a:ext cx="82296" cy="1024128"/>
          </a:xfrm>
          <a:prstGeom prst="roundRect">
            <a:avLst>
              <a:gd name="adj" fmla="val 166667"/>
            </a:avLst>
          </a:prstGeom>
          <a:solidFill>
            <a:srgbClr val="09A6A2"/>
          </a:solidFill>
          <a:ln w="6350">
            <a:solidFill>
              <a:srgbClr val="09A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8992" y="4069080"/>
            <a:ext cx="9948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Kim, G., Humble, J., Debois, P., &amp; Willis, J. (2016). The DevOps handbook: How to create world-class agility, reliability, &amp; security in technology organizations. IT Revolution Press.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572414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/>
              <a:t>Assigned headings and pp. 9–11 match Kim et al. (2016), not Frost (2016).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5294376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7263C"/>
                </a:solidFill>
              </a:defRPr>
            </a:pPr>
            <a:r>
              <a:t>Frost, B. (2016). Atomic design. https://atomicdesign.bradfrost.com/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760</Words>
  <Application>Microsoft Office PowerPoint</Application>
  <PresentationFormat>Widescreen</PresentationFormat>
  <Paragraphs>130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Technology Value Stream</dc:title>
  <dc:subject>Technology Value Stream</dc:subject>
  <dc:creator>Academic Research Presentation</dc:creator>
  <cp:lastModifiedBy>Kobe Alexander</cp:lastModifiedBy>
  <cp:revision>1</cp:revision>
  <dcterms:created xsi:type="dcterms:W3CDTF">2026-10-26T03:23:36Z</dcterms:created>
  <dcterms:modified xsi:type="dcterms:W3CDTF">2026-10-26T03:28:17Z</dcterms:modified>
</cp:coreProperties>
</file>